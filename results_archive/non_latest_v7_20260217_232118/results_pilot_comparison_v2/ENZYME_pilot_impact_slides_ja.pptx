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パイロット結果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</a:t>
            </a:r>
          </a:p>
          <a:p>
            <a:r>
              <a:t>### GPT-OSS と Qwen での形式化・再現性評価</a:t>
            </a:r>
          </a:p>
          <a:p>
            <a:r>
              <a:t>- 対象: 34論文（protocols 14 / siblings 20）</a:t>
            </a:r>
          </a:p>
          <a:p>
            <a:r>
              <a:t>- モデル: `gpt-oss-120b-medium-v2`, `qwen3-next-80b-a3b-instruct-fp8-v2`</a:t>
            </a:r>
          </a:p>
          <a:p>
            <a:r>
              <a:t>- 出典: `results_pilot_comparison_v2/*`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背景思想（QUEENとの関係）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参照論文: Nature Communications 2022, `s41467-022-30588-x`</a:t>
            </a:r>
          </a:p>
          <a:p>
            <a:pPr/>
            <a:r>
              <a:t>要点:</a:t>
            </a:r>
          </a:p>
          <a:p>
            <a:pPr/>
            <a:r>
              <a:t>複雑なプロセスを最小操作に還元</a:t>
            </a:r>
          </a:p>
          <a:p>
            <a:pPr/>
            <a:r>
              <a:t>操作履歴を保持し再生成可能性を高める</a:t>
            </a:r>
          </a:p>
          <a:p>
            <a:pPr/>
            <a:r>
              <a:t>ENZYMEの対応:</a:t>
            </a:r>
          </a:p>
          <a:p>
            <a:pPr/>
            <a:r>
              <a:t>Core関数を最小化</a:t>
            </a:r>
          </a:p>
          <a:p>
            <a:pPr/>
            <a:r>
              <a:t>高級手順はLoweringでCoreへ</a:t>
            </a:r>
          </a:p>
          <a:p>
            <a:pPr/>
            <a:r>
              <a:t>履歴/根拠をJSONで保持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ENZYME実装（E2E）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CLI: `import -&gt; compile -&gt; validate -&gt; score -&gt; report`</a:t>
            </a:r>
          </a:p>
          <a:p>
            <a:pPr/>
            <a:r>
              <a:t>実装根拠:</a:t>
            </a:r>
          </a:p>
          <a:p>
            <a:pPr/>
            <a:r>
              <a:t>`src/enzyme/cli.py:33-105`</a:t>
            </a:r>
          </a:p>
          <a:p>
            <a:pPr/>
            <a:r>
              <a:t>`src/enzyme/lowering.py:29-136`</a:t>
            </a:r>
          </a:p>
          <a:p>
            <a:pPr/>
            <a:r>
              <a:t>`src/enzyme/validator.py:372-395`</a:t>
            </a:r>
          </a:p>
          <a:p>
            <a:pPr/>
            <a:r>
              <a:t>`src/enzyme/scoring.py:755-784`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形式化のコア設計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HL-IRとCore-IRを分離</a:t>
            </a:r>
          </a:p>
          <a:p>
            <a:pPr/>
            <a:r>
              <a:t>Macro展開:</a:t>
            </a:r>
          </a:p>
          <a:p>
            <a:pPr/>
            <a:r>
              <a:t>`thermocycle/incubate/centrifuge -&gt; run_device`</a:t>
            </a:r>
          </a:p>
          <a:p>
            <a:pPr/>
            <a:r>
              <a:t>`measure -&gt; run_device + observe`</a:t>
            </a:r>
          </a:p>
          <a:p>
            <a:pPr/>
            <a:r>
              <a:t>意図:</a:t>
            </a:r>
          </a:p>
          <a:p>
            <a:pPr/>
            <a:r>
              <a:t>生成自由度（HL）と検証厳密性（Core）を両立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スコアリング設計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6軸:</a:t>
            </a:r>
          </a:p>
          <a:p>
            <a:pPr/>
            <a:r>
              <a:t>`S_structural, S_param, S_vocab, S_ident, S_ambiguity, S_exec_env`</a:t>
            </a:r>
          </a:p>
          <a:p>
            <a:pPr/>
            <a:r>
              <a:t>`total = 6軸平均`</a:t>
            </a:r>
          </a:p>
          <a:p>
            <a:pPr/>
            <a:r>
              <a:t>reproducibility拡張:</a:t>
            </a:r>
          </a:p>
          <a:p>
            <a:pPr/>
            <a:r>
              <a:t>profile駆動カテゴリ評価</a:t>
            </a:r>
          </a:p>
          <a:p>
            <a:pPr/>
            <a:r>
              <a:t>`flow_integrity`はviability gate</a:t>
            </a:r>
          </a:p>
          <a:p>
            <a:pPr/>
            <a:r>
              <a:t>`repro.total = non-flowカテゴリの等平均`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フロー設計（2層）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unit内flow（スコア側）</a:t>
            </a:r>
          </a:p>
          <a:p>
            <a:pPr/>
            <a:r>
              <a:t>source/order/kind mismatch/unused intermediate を検出</a:t>
            </a:r>
          </a:p>
          <a:p>
            <a:pPr/>
            <a:r>
              <a:t>paper内unit間flow（ベンチ側）</a:t>
            </a:r>
          </a:p>
          <a:p>
            <a:pPr/>
            <a:r>
              <a:t>`material_flow`（厳密ref一致）</a:t>
            </a:r>
          </a:p>
          <a:p>
            <a:pPr/>
            <a:r>
              <a:t>`logical_flow`（時系列＋語彙アンカー＋継続語）</a:t>
            </a:r>
          </a:p>
          <a:p>
            <a:pPr/>
            <a:r>
              <a:t>`combined_integrity`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unitカテゴリ設計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ルールベース分類（regex）</a:t>
            </a:r>
          </a:p>
          <a:p>
            <a:pPr/>
            <a:r>
              <a:t>split品質監査:</a:t>
            </a:r>
          </a:p>
          <a:p>
            <a:pPr/>
            <a:r>
              <a:t>`UNIT_TOO_SHORT_*`</a:t>
            </a:r>
          </a:p>
          <a:p>
            <a:pPr/>
            <a:r>
              <a:t>`UNIT_NO_EXPERIMENT_CATEGORY`</a:t>
            </a:r>
          </a:p>
          <a:p>
            <a:pPr/>
            <a:r>
              <a:t>`UNIT_CATEGORY_OVERMIXED`</a:t>
            </a:r>
          </a:p>
          <a:p>
            <a:pPr/>
            <a:r>
              <a:t>解析出力:</a:t>
            </a:r>
          </a:p>
          <a:p>
            <a:pPr/>
            <a:r>
              <a:t>群別カテゴリ分布</a:t>
            </a:r>
          </a:p>
          <a:p>
            <a:pPr/>
            <a:r>
              <a:t>カテゴリ別repro平均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実行完了性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GPT: 34 papers / 315 units / failure 0 / repro欠損 0</a:t>
            </a:r>
          </a:p>
          <a:p>
            <a:pPr/>
            <a:r>
              <a:t>Qwen: 34 papers / 288 units / failure 0 / repro欠損 0</a:t>
            </a:r>
          </a:p>
          <a:p>
            <a:pPr/>
            <a:r>
              <a:t>出典: `pilot_run_integrity.csv`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全体比較（34本）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wins（GPT/Qwen/Tie）: `9 / 23 / 2`</a:t>
            </a:r>
          </a:p>
          <a:p>
            <a:pPr/>
            <a:r>
              <a:t>Repro wins（GPT/Qwen/Tie）: `24 / 5 / 5`</a:t>
            </a:r>
          </a:p>
          <a:p>
            <a:pPr/>
            <a:r>
              <a:t>Mean delta default（GPT-Qwen）: `-5.120`</a:t>
            </a:r>
          </a:p>
          <a:p>
            <a:pPr/>
            <a:r>
              <a:t>Mean delta repro（GPT-Qwen）: `+4.098`</a:t>
            </a:r>
          </a:p>
          <a:p>
            <a:pPr/>
            <a:r>
              <a:t>出典: `pilot_compare_repro_summary.md`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protocols vs siblings（群平均）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</a:t>
            </a:r>
          </a:p>
          <a:p>
            <a:pPr/>
            <a:r>
              <a:t>total: `57.986 vs 69.785`（Δ `-11.799`）</a:t>
            </a:r>
          </a:p>
          <a:p>
            <a:pPr/>
            <a:r>
              <a:t>repro: `26.986 vs 16.548`（Δ `+10.438`）</a:t>
            </a:r>
          </a:p>
          <a:p>
            <a:pPr/>
            <a:r>
              <a:t>Qwen</a:t>
            </a:r>
          </a:p>
          <a:p>
            <a:pPr/>
            <a:r>
              <a:t>total: `59.316 vs 77.558`（Δ `-18.242`）</a:t>
            </a:r>
          </a:p>
          <a:p>
            <a:pPr/>
            <a:r>
              <a:t>repro: `23.971 vs 11.691`（Δ `+12.280`）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repro有意差（protocols vs siblings）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</a:t>
            </a:r>
          </a:p>
          <a:p>
            <a:pPr/>
            <a:r>
              <a:t>Mann-Whitney p=`0.000404`</a:t>
            </a:r>
          </a:p>
          <a:p>
            <a:pPr/>
            <a:r>
              <a:t>Welch p=`0.000005`</a:t>
            </a:r>
          </a:p>
          <a:p>
            <a:pPr/>
            <a:r>
              <a:t>Cohen d=`1.732`</a:t>
            </a:r>
          </a:p>
          <a:p>
            <a:pPr/>
            <a:r>
              <a:t>Qwen</a:t>
            </a:r>
          </a:p>
          <a:p>
            <a:pPr/>
            <a:r>
              <a:t>Mann-Whitney p=`0.000011`</a:t>
            </a:r>
          </a:p>
          <a:p>
            <a:pPr/>
            <a:r>
              <a:t>Welch p=`0.000001`</a:t>
            </a:r>
          </a:p>
          <a:p>
            <a:pPr/>
            <a:r>
              <a:t>Cohen d=`2.134`</a:t>
            </a:r>
          </a:p>
          <a:p>
            <a:pPr/>
            <a:r>
              <a:t>出典: `repro_group_significance.md`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モデル間相関（paper-level）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(n=34):</a:t>
            </a:r>
          </a:p>
          <a:p>
            <a:pPr/>
            <a:r>
              <a:t>pearson_total=`0.735`, pearson_repro=`0.760`</a:t>
            </a:r>
          </a:p>
          <a:p>
            <a:pPr/>
            <a:r>
              <a:t>nat_protocols (n=14):</a:t>
            </a:r>
          </a:p>
          <a:p>
            <a:pPr/>
            <a:r>
              <a:t>pearson_total=`-0.056`, pearson_repro=`-0.131`</a:t>
            </a:r>
          </a:p>
          <a:p>
            <a:pPr/>
            <a:r>
              <a:t>nat_siblings (n=20):</a:t>
            </a:r>
          </a:p>
          <a:p>
            <a:pPr/>
            <a:r>
              <a:t>pearson_total=`0.761`, pearson_repro=`0.795`</a:t>
            </a:r>
          </a:p>
          <a:p>
            <a:pPr/>
            <a:r>
              <a:t>出典: `pilot_model_correlation.csv`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フロー結果ハイライト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combined isolated rate（平均）</a:t>
            </a:r>
          </a:p>
          <a:p>
            <a:pPr/>
            <a:r>
              <a:t>GPT: protocols `0.400`, siblings `0.658`</a:t>
            </a:r>
          </a:p>
          <a:p>
            <a:pPr/>
            <a:r>
              <a:t>Qwen: protocols `0.179`, siblings `0.503`</a:t>
            </a:r>
          </a:p>
          <a:p>
            <a:pPr/>
            <a:r>
              <a:t>corr(repro, connectivity)</a:t>
            </a:r>
          </a:p>
          <a:p>
            <a:pPr/>
            <a:r>
              <a:t>GPT: protocols `0.690`, siblings `0.758`</a:t>
            </a:r>
          </a:p>
          <a:p>
            <a:pPr/>
            <a:r>
              <a:t>Qwen: protocols `0.658`, siblings `0.606`</a:t>
            </a:r>
          </a:p>
          <a:p>
            <a:pPr/>
            <a:r>
              <a:t>出典: `pilot_flow_group_summary.csv`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カテゴリ結果ハイライト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protocols上位: `cell_culture`, `centrifugation`, `microscopy_imaging`</a:t>
            </a:r>
          </a:p>
          <a:p>
            <a:pPr/>
            <a:r>
              <a:t>siblings上位: `other`, `cell_culture`, `sequencing_library_prep`</a:t>
            </a:r>
          </a:p>
          <a:p>
            <a:pPr/>
            <a:r>
              <a:t>同一カテゴリでも群間でrepro平均差が見える</a:t>
            </a:r>
          </a:p>
          <a:p>
            <a:pPr/>
            <a:r>
              <a:t>出典:</a:t>
            </a:r>
          </a:p>
          <a:p>
            <a:pPr/>
            <a:r>
              <a:t>`pilot_category_distribution_long.csv`</a:t>
            </a:r>
          </a:p>
          <a:p>
            <a:pPr/>
            <a:r>
              <a:t>`pilot_category_scores_long.csv`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群平均傾向は両モデルで一致</a:t>
            </a:r>
          </a:p>
          <a:p>
            <a:pPr/>
            <a:r>
              <a:t>siblingsのtotalは高い</a:t>
            </a:r>
          </a:p>
          <a:p>
            <a:pPr/>
            <a:r>
              <a:t>protocolsのreproは高い</a:t>
            </a:r>
          </a:p>
          <a:p>
            <a:pPr/>
            <a:r>
              <a:t>一方でprotocols群内の論文順位相関は低い</a:t>
            </a:r>
          </a:p>
          <a:p>
            <a:pPr/>
            <a:r>
              <a:t>つまり:</a:t>
            </a:r>
          </a:p>
          <a:p>
            <a:pPr/>
            <a:r>
              <a:t>マクロ傾向の一致</a:t>
            </a:r>
          </a:p>
          <a:p>
            <a:pPr/>
            <a:r>
              <a:t>ミクロ順位の不一致</a:t>
            </a:r>
          </a:p>
          <a:p>
            <a:pPr/>
            <a:r>
              <a:t>が同時成立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ENZYMEの貢献可能性（現時点評価）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形式化品質と再現性品質を分離評価できる</a:t>
            </a:r>
          </a:p>
          <a:p>
            <a:pPr/>
            <a:r>
              <a:t>flow・categoryを統合して原因を掘れる</a:t>
            </a:r>
          </a:p>
          <a:p>
            <a:pPr/>
            <a:r>
              <a:t>投稿前監査・ラボ標準化・LLM生成プロトコル評価に実用的</a:t>
            </a:r>
          </a:p>
          <a:p>
            <a:pPr/>
            <a:r>
              <a:t>本パイロットは「本格展開に進む価値あり」を示す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次段の開発計画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`logical_flow`の高度化（co-reference / dependency）</a:t>
            </a:r>
          </a:p>
          <a:p>
            <a:pPr/>
            <a:r>
              <a:t>2. カテゴリ分類のhybrid化（regex + embedding）</a:t>
            </a:r>
          </a:p>
          <a:p>
            <a:pPr/>
            <a:r>
              <a:t>3. 重み最適化（外部再現成功データで学習）</a:t>
            </a:r>
          </a:p>
          <a:p>
            <a:pPr/>
            <a:r>
              <a:t>4. Nat Protocols全件化で分野横断マップ作成</a:t>
            </a:r>
          </a:p>
          <a:p>
            <a:pPr/>
            <a:r>
              <a:t>5. 回帰テストと再現解析パイプライン固定化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付録（主要成果物）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総合報告: `ENZYME_pilot_impact_report_ja.md`</a:t>
            </a:r>
          </a:p>
          <a:p>
            <a:pPr/>
            <a:r>
              <a:t>相関図: `model_correlation_total_grid.png`, `model_correlation_repro_grid.png`</a:t>
            </a:r>
          </a:p>
          <a:p>
            <a:pPr/>
            <a:r>
              <a:t>有意差図: `repro_group_jitter_box.png`</a:t>
            </a:r>
          </a:p>
          <a:p>
            <a:pPr/>
            <a:r>
              <a:t>全表: `pilot_compare_repro_pairwise.csv`, `pilot_flow_paper_metrics.csv`, `pilot_category_scores_long.csv`</a:t>
            </a:r>
          </a:p>
          <a:p>
            <a:pPr/>
            <a:r>
              <a:t>protocols repro全件: `nat_protocols_repro_only.csv`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